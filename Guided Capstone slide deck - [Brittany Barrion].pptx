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DF16D2-8643-4D28-9ED4-6CEDEEEA1608}">
  <a:tblStyle styleId="{C5DF16D2-8643-4D28-9ED4-6CEDEEEA16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62bbdc4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562bbdc4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562bbdc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562bbdc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562bbdc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562bbdc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562bbdc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562bbdc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562bbdc4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562bbdc4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62bbdc4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562bbdc4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69450" y="46300"/>
            <a:ext cx="8993400" cy="5046600"/>
          </a:xfrm>
          <a:prstGeom prst="rect">
            <a:avLst/>
          </a:prstGeom>
          <a:solidFill>
            <a:srgbClr val="073763">
              <a:alpha val="54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131287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</a:rPr>
              <a:t>Predicting Ski Resort</a:t>
            </a:r>
            <a:endParaRPr b="1" sz="3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</a:rPr>
              <a:t>Weekend Ticket Prices Using</a:t>
            </a:r>
            <a:endParaRPr b="1" sz="3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</a:rPr>
              <a:t>Machine Learning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1853957"/>
            <a:ext cx="8520600" cy="20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</a:rPr>
              <a:t>Brittany Barrion</a:t>
            </a:r>
            <a:endParaRPr b="1" sz="2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Springboard Data Science Career Track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  <a:highlight>
                  <a:schemeClr val="lt1"/>
                </a:highlight>
              </a:rPr>
              <a:t>Guided Capstone Project</a:t>
            </a:r>
            <a:endParaRPr>
              <a:solidFill>
                <a:srgbClr val="073763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4223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</a:rPr>
              <a:t>Problem Statement &amp; Data Preparation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239650" y="1069250"/>
            <a:ext cx="4148100" cy="3779400"/>
          </a:xfrm>
          <a:prstGeom prst="rect">
            <a:avLst/>
          </a:prstGeom>
          <a:solidFill>
            <a:srgbClr val="D9D9D9">
              <a:alpha val="95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3999900" cy="3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73763"/>
                </a:solidFill>
              </a:rPr>
              <a:t>Business Problem</a:t>
            </a:r>
            <a:endParaRPr b="1" sz="2800">
              <a:solidFill>
                <a:srgbClr val="073763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Predict adult weekend ticket prices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Identify the resort features that most affected pricing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Support better pricing decisions with machine learning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73763"/>
                </a:solidFill>
              </a:rPr>
              <a:t>Data Wrangling</a:t>
            </a:r>
            <a:endParaRPr b="1" sz="2800">
              <a:solidFill>
                <a:srgbClr val="073763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Started with data from 330 US ski resorts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Corrected missing and inaccurate values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Removed duplicate and incomplete records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Added state demographic data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Created engineered features for modeling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6247" y="1207781"/>
            <a:ext cx="4377767" cy="331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0113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</a:rPr>
              <a:t>Key Findings &amp; Business Recommendation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482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884850" y="806325"/>
            <a:ext cx="3120600" cy="4198800"/>
          </a:xfrm>
          <a:prstGeom prst="rect">
            <a:avLst/>
          </a:prstGeom>
          <a:solidFill>
            <a:srgbClr val="D9D9D9">
              <a:alpha val="1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5884850" y="806325"/>
            <a:ext cx="3120600" cy="4060800"/>
          </a:xfrm>
          <a:prstGeom prst="rect">
            <a:avLst/>
          </a:prstGeom>
          <a:solidFill>
            <a:srgbClr val="D9D9D9">
              <a:alpha val="95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73763"/>
                </a:solidFill>
              </a:rPr>
              <a:t>Key Findings</a:t>
            </a:r>
            <a:endParaRPr b="1" sz="2400">
              <a:solidFill>
                <a:srgbClr val="073763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Weekend prices exceeded weekday prices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Western states generally had the highest average weekend ticket prices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Pricing varied significantly by location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73763"/>
                </a:solidFill>
              </a:rPr>
              <a:t>Recommendations</a:t>
            </a:r>
            <a:endParaRPr b="1" sz="24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highlight>
                  <a:srgbClr val="073763"/>
                </a:highlight>
              </a:rPr>
              <a:t>Increased ticket prices gradually while continuing to invest in resort improvements. The model indicates these enhancements support higher pricing potential and increased seasonal revenue.</a:t>
            </a:r>
            <a:endParaRPr sz="1200">
              <a:solidFill>
                <a:schemeClr val="lt1"/>
              </a:solidFill>
              <a:highlight>
                <a:srgbClr val="073763"/>
              </a:highlight>
            </a:endParaRPr>
          </a:p>
        </p:txBody>
      </p:sp>
      <p:pic>
        <p:nvPicPr>
          <p:cNvPr id="74" name="Google Shape;74;p15" title="#3 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75" y="673850"/>
            <a:ext cx="5742550" cy="441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250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</a:rPr>
              <a:t>Exploratory Data Analysis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569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6268075" y="654450"/>
            <a:ext cx="2719200" cy="4323000"/>
          </a:xfrm>
          <a:prstGeom prst="rect">
            <a:avLst/>
          </a:prstGeom>
          <a:solidFill>
            <a:srgbClr val="D9D9D9">
              <a:alpha val="95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2" type="body"/>
          </p:nvPr>
        </p:nvSpPr>
        <p:spPr>
          <a:xfrm>
            <a:off x="6351025" y="811173"/>
            <a:ext cx="2481300" cy="3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73763"/>
                </a:solidFill>
              </a:rPr>
              <a:t>Key Insights</a:t>
            </a:r>
            <a:endParaRPr b="1" sz="1200">
              <a:solidFill>
                <a:srgbClr val="073763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Larger resorts generally charged higher ticket prices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Skiable terrain, vertical drop, total chairs, and snow-making capacity showed positive relationships </a:t>
            </a:r>
            <a:r>
              <a:rPr lang="en" sz="1200">
                <a:solidFill>
                  <a:schemeClr val="dk1"/>
                </a:solidFill>
              </a:rPr>
              <a:t>with</a:t>
            </a:r>
            <a:r>
              <a:rPr lang="en" sz="1200">
                <a:solidFill>
                  <a:schemeClr val="dk1"/>
                </a:solidFill>
              </a:rPr>
              <a:t> ticket price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n" sz="1200">
                <a:solidFill>
                  <a:schemeClr val="dk1"/>
                </a:solidFill>
              </a:rPr>
              <a:t>Correlation </a:t>
            </a:r>
            <a:r>
              <a:rPr lang="en" sz="1200">
                <a:solidFill>
                  <a:schemeClr val="dk1"/>
                </a:solidFill>
              </a:rPr>
              <a:t>analysis</a:t>
            </a:r>
            <a:r>
              <a:rPr lang="en" sz="1200">
                <a:solidFill>
                  <a:schemeClr val="dk1"/>
                </a:solidFill>
              </a:rPr>
              <a:t> identified the strongest predictors for machine learning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3" name="Google Shape;83;p16" title="heatwave 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25" y="599172"/>
            <a:ext cx="5991525" cy="4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6304925" y="4433725"/>
            <a:ext cx="27192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highlight>
                  <a:schemeClr val="lt1"/>
                </a:highlight>
              </a:rPr>
              <a:t>Figure 1. Correlation heatmap showing </a:t>
            </a:r>
            <a:r>
              <a:rPr i="1" lang="en" sz="800">
                <a:solidFill>
                  <a:schemeClr val="dk2"/>
                </a:solidFill>
                <a:highlight>
                  <a:schemeClr val="lt1"/>
                </a:highlight>
              </a:rPr>
              <a:t>relationships</a:t>
            </a:r>
            <a:r>
              <a:rPr i="1" lang="en" sz="800">
                <a:solidFill>
                  <a:schemeClr val="dk2"/>
                </a:solidFill>
                <a:highlight>
                  <a:schemeClr val="lt1"/>
                </a:highlight>
              </a:rPr>
              <a:t> among resort characteristics and ticket price</a:t>
            </a:r>
            <a:endParaRPr i="1"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8005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</a:rPr>
              <a:t>Model Evaluation &amp; Results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651699"/>
            <a:ext cx="8520600" cy="42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1" name="Google Shape;91;p17"/>
          <p:cNvGraphicFramePr/>
          <p:nvPr/>
        </p:nvGraphicFramePr>
        <p:xfrm>
          <a:off x="404387" y="8366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{C5DF16D2-8643-4D28-9ED4-6CEDEEEA1608}</a:tableStyleId>
              </a:tblPr>
              <a:tblGrid>
                <a:gridCol w="2340675"/>
                <a:gridCol w="2340675"/>
                <a:gridCol w="2340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Model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R²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Test MAE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Dummy Regressor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$19.14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 Regression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$11.79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⭐ Random Forest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0.71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$9.54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17"/>
          <p:cNvSpPr/>
          <p:nvPr/>
        </p:nvSpPr>
        <p:spPr>
          <a:xfrm>
            <a:off x="446375" y="2678275"/>
            <a:ext cx="8105700" cy="1523700"/>
          </a:xfrm>
          <a:prstGeom prst="rect">
            <a:avLst/>
          </a:prstGeom>
          <a:solidFill>
            <a:srgbClr val="D9D9D9">
              <a:alpha val="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491175" y="2605350"/>
            <a:ext cx="82206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Why Random Forest?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b="1" lang="en" sz="1600">
                <a:solidFill>
                  <a:schemeClr val="dk1"/>
                </a:solidFill>
              </a:rPr>
              <a:t>Highest predictive accuracy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b="1" lang="en" sz="1600">
                <a:solidFill>
                  <a:schemeClr val="dk1"/>
                </a:solidFill>
              </a:rPr>
              <a:t>Lowest predictive error (MAE)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>
                <a:solidFill>
                  <a:schemeClr val="dk1"/>
                </a:solidFill>
              </a:rPr>
              <a:t>Strongest </a:t>
            </a:r>
            <a:r>
              <a:rPr lang="en" sz="1600">
                <a:solidFill>
                  <a:schemeClr val="dk1"/>
                </a:solidFill>
              </a:rPr>
              <a:t>performance</a:t>
            </a:r>
            <a:r>
              <a:rPr lang="en" sz="1600">
                <a:solidFill>
                  <a:schemeClr val="dk1"/>
                </a:solidFill>
              </a:rPr>
              <a:t> on unseen data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>
                <a:solidFill>
                  <a:schemeClr val="dk1"/>
                </a:solidFill>
              </a:rPr>
              <a:t>Selected as the final predictive model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11139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</a:rPr>
              <a:t>Business Impact &amp; Recommendation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3520300" y="831900"/>
            <a:ext cx="5224500" cy="1978200"/>
          </a:xfrm>
          <a:prstGeom prst="rect">
            <a:avLst/>
          </a:prstGeom>
          <a:solidFill>
            <a:srgbClr val="D9D9D9">
              <a:alpha val="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2" type="body"/>
          </p:nvPr>
        </p:nvSpPr>
        <p:spPr>
          <a:xfrm>
            <a:off x="3581175" y="871825"/>
            <a:ext cx="4944600" cy="19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73763"/>
                </a:solidFill>
              </a:rPr>
              <a:t>Strategic Recommendations</a:t>
            </a:r>
            <a:endParaRPr>
              <a:solidFill>
                <a:srgbClr val="073763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</a:rPr>
              <a:t>Gradually </a:t>
            </a:r>
            <a:r>
              <a:rPr lang="en">
                <a:solidFill>
                  <a:schemeClr val="dk1"/>
                </a:solidFill>
              </a:rPr>
              <a:t>increase ticket prices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</a:rPr>
              <a:t>Continue investing in resort improvements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</a:rPr>
              <a:t>Monitor customer response after pricing changes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</a:rPr>
              <a:t>Reassess pricing as new operational data becomes available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02" name="Google Shape;102;p18"/>
          <p:cNvGraphicFramePr/>
          <p:nvPr/>
        </p:nvGraphicFramePr>
        <p:xfrm>
          <a:off x="433500" y="91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{C5DF16D2-8643-4D28-9ED4-6CEDEEEA1608}</a:tableStyleId>
              </a:tblPr>
              <a:tblGrid>
                <a:gridCol w="2660825"/>
              </a:tblGrid>
              <a:tr h="42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Current Ticket Price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</a:tr>
              <a:tr h="42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$81.00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42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↓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42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Model Predicted Ticket Price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</a:tr>
              <a:tr h="42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$95.87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42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↓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42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Difference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  <a:tr h="42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74E13"/>
                          </a:solidFill>
                        </a:rPr>
                        <a:t>+$14.97</a:t>
                      </a:r>
                      <a:endParaRPr b="1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03" name="Google Shape;103;p18"/>
          <p:cNvSpPr txBox="1"/>
          <p:nvPr/>
        </p:nvSpPr>
        <p:spPr>
          <a:xfrm>
            <a:off x="3439150" y="2910875"/>
            <a:ext cx="5305800" cy="19383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The</a:t>
            </a:r>
            <a:r>
              <a:rPr lang="en" sz="1800">
                <a:solidFill>
                  <a:schemeClr val="lt1"/>
                </a:solidFill>
              </a:rPr>
              <a:t> Random Forest model indicates that Big Mountain may be underpriced relative to comparable resorts, creating an opportunity for gradual price increases while continuing to invest in guest experience.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-4429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</a:rPr>
              <a:t>Project Summary &amp; Conclusion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263775" y="578265"/>
            <a:ext cx="8520600" cy="3665100"/>
          </a:xfrm>
          <a:prstGeom prst="rect">
            <a:avLst/>
          </a:prstGeom>
          <a:solidFill>
            <a:srgbClr val="D9D9D9">
              <a:alpha val="95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494416"/>
            <a:ext cx="8520600" cy="3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73763"/>
                </a:solidFill>
              </a:rPr>
              <a:t>Key Takeaways</a:t>
            </a:r>
            <a:endParaRPr sz="1600">
              <a:solidFill>
                <a:srgbClr val="073763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>
                <a:solidFill>
                  <a:schemeClr val="dk1"/>
                </a:solidFill>
              </a:rPr>
              <a:t>Successfully cleaned and prepared data from 330 US ski resorts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>
                <a:solidFill>
                  <a:schemeClr val="dk1"/>
                </a:solidFill>
              </a:rPr>
              <a:t>Identified the resort features most strongly associated with weekend ticket prices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>
                <a:solidFill>
                  <a:schemeClr val="dk1"/>
                </a:solidFill>
              </a:rPr>
              <a:t>Compared multiple machine learning models and selected Random Forest ad the best performer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>
                <a:solidFill>
                  <a:schemeClr val="dk1"/>
                </a:solidFill>
              </a:rPr>
              <a:t>Demonstrated</a:t>
            </a:r>
            <a:r>
              <a:rPr lang="en" sz="1600">
                <a:solidFill>
                  <a:schemeClr val="dk1"/>
                </a:solidFill>
              </a:rPr>
              <a:t> how predictive modeling can support data-driven pricing decisions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73763"/>
                </a:solidFill>
              </a:rPr>
              <a:t>Future</a:t>
            </a:r>
            <a:r>
              <a:rPr b="1" lang="en" sz="2400">
                <a:solidFill>
                  <a:srgbClr val="073763"/>
                </a:solidFill>
              </a:rPr>
              <a:t> Opportunities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>
                <a:solidFill>
                  <a:schemeClr val="dk1"/>
                </a:solidFill>
              </a:rPr>
              <a:t>Incorporate weather and tourism demand data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>
                <a:solidFill>
                  <a:schemeClr val="dk1"/>
                </a:solidFill>
              </a:rPr>
              <a:t>Explore dynamic pricing strategies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lang="en" sz="1600">
                <a:solidFill>
                  <a:schemeClr val="dk1"/>
                </a:solidFill>
              </a:rPr>
              <a:t>Continuously</a:t>
            </a:r>
            <a:r>
              <a:rPr lang="en" sz="1600">
                <a:solidFill>
                  <a:schemeClr val="dk1"/>
                </a:solidFill>
              </a:rPr>
              <a:t> retrain the model as new </a:t>
            </a:r>
            <a:r>
              <a:rPr lang="en" sz="1600">
                <a:solidFill>
                  <a:schemeClr val="dk1"/>
                </a:solidFill>
              </a:rPr>
              <a:t>resort</a:t>
            </a:r>
            <a:r>
              <a:rPr lang="en" sz="1600">
                <a:solidFill>
                  <a:schemeClr val="dk1"/>
                </a:solidFill>
              </a:rPr>
              <a:t> data becomes available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284070" y="4250752"/>
            <a:ext cx="8520600" cy="771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Machine</a:t>
            </a:r>
            <a:r>
              <a:rPr lang="en" sz="1800">
                <a:solidFill>
                  <a:schemeClr val="lt1"/>
                </a:solidFill>
              </a:rPr>
              <a:t> learning provides ski resorts with a practical, data-driven approach to </a:t>
            </a:r>
            <a:r>
              <a:rPr lang="en" sz="1800">
                <a:solidFill>
                  <a:schemeClr val="lt1"/>
                </a:solidFill>
              </a:rPr>
              <a:t>pricing</a:t>
            </a:r>
            <a:r>
              <a:rPr lang="en" sz="1800">
                <a:solidFill>
                  <a:schemeClr val="lt1"/>
                </a:solidFill>
              </a:rPr>
              <a:t> decisions, helping balance customer value with long-term revenue growth. 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